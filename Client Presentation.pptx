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16B12-1CBB-4042-8CCA-344E6D01E5D4}" v="15" dt="2026-04-20T15:14:35.2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104" d="100"/>
          <a:sy n="104" d="100"/>
        </p:scale>
        <p:origin x="234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rey Solis" userId="865c2fc1f15fc15f" providerId="LiveId" clId="{32799E32-379F-44A2-8882-7D163E7F27E5}"/>
    <pc:docChg chg="undo custSel modSld">
      <pc:chgData name="Julrey Solis" userId="865c2fc1f15fc15f" providerId="LiveId" clId="{32799E32-379F-44A2-8882-7D163E7F27E5}" dt="2026-04-20T15:16:43.157" v="2111" actId="20577"/>
      <pc:docMkLst>
        <pc:docMk/>
      </pc:docMkLst>
      <pc:sldChg chg="modSp mod modNotesTx">
        <pc:chgData name="Julrey Solis" userId="865c2fc1f15fc15f" providerId="LiveId" clId="{32799E32-379F-44A2-8882-7D163E7F27E5}" dt="2026-04-10T20:24:01.042" v="115" actId="20577"/>
        <pc:sldMkLst>
          <pc:docMk/>
          <pc:sldMk cId="409182036" sldId="258"/>
        </pc:sldMkLst>
        <pc:spChg chg="mod">
          <ac:chgData name="Julrey Solis" userId="865c2fc1f15fc15f" providerId="LiveId" clId="{32799E32-379F-44A2-8882-7D163E7F27E5}" dt="2026-04-10T20:19:59.294" v="11" actId="20577"/>
          <ac:spMkLst>
            <pc:docMk/>
            <pc:sldMk cId="409182036" sldId="258"/>
            <ac:spMk id="3" creationId="{00000000-0000-0000-0000-000000000000}"/>
          </ac:spMkLst>
        </pc:spChg>
      </pc:sldChg>
      <pc:sldChg chg="modSp mod modNotesTx">
        <pc:chgData name="Julrey Solis" userId="865c2fc1f15fc15f" providerId="LiveId" clId="{32799E32-379F-44A2-8882-7D163E7F27E5}" dt="2026-04-20T15:16:43.157" v="2111" actId="20577"/>
        <pc:sldMkLst>
          <pc:docMk/>
          <pc:sldMk cId="1865885945" sldId="260"/>
        </pc:sldMkLst>
        <pc:spChg chg="mod">
          <ac:chgData name="Julrey Solis" userId="865c2fc1f15fc15f" providerId="LiveId" clId="{32799E32-379F-44A2-8882-7D163E7F27E5}" dt="2026-04-10T20:23:42.267" v="114" actId="5793"/>
          <ac:spMkLst>
            <pc:docMk/>
            <pc:sldMk cId="1865885945" sldId="260"/>
            <ac:spMk id="3" creationId="{00000000-0000-0000-0000-000000000000}"/>
          </ac:spMkLst>
        </pc:spChg>
      </pc:sldChg>
      <pc:sldChg chg="addSp delSp modSp mod modNotesTx">
        <pc:chgData name="Julrey Solis" userId="865c2fc1f15fc15f" providerId="LiveId" clId="{32799E32-379F-44A2-8882-7D163E7F27E5}" dt="2026-04-20T15:01:48.044" v="1208" actId="313"/>
        <pc:sldMkLst>
          <pc:docMk/>
          <pc:sldMk cId="2776425341" sldId="261"/>
        </pc:sldMkLst>
        <pc:picChg chg="add mod ord">
          <ac:chgData name="Julrey Solis" userId="865c2fc1f15fc15f" providerId="LiveId" clId="{32799E32-379F-44A2-8882-7D163E7F27E5}" dt="2026-04-10T20:26:21.661" v="126" actId="14100"/>
          <ac:picMkLst>
            <pc:docMk/>
            <pc:sldMk cId="2776425341" sldId="261"/>
            <ac:picMk id="10" creationId="{43B4E451-BCD6-6F4A-9965-B93193E8FA72}"/>
          </ac:picMkLst>
        </pc:picChg>
      </pc:sldChg>
      <pc:sldChg chg="modSp mod modNotesTx">
        <pc:chgData name="Julrey Solis" userId="865c2fc1f15fc15f" providerId="LiveId" clId="{32799E32-379F-44A2-8882-7D163E7F27E5}" dt="2026-04-20T15:10:56.893" v="2028" actId="113"/>
        <pc:sldMkLst>
          <pc:docMk/>
          <pc:sldMk cId="376843144" sldId="263"/>
        </pc:sldMkLst>
        <pc:spChg chg="mod">
          <ac:chgData name="Julrey Solis" userId="865c2fc1f15fc15f" providerId="LiveId" clId="{32799E32-379F-44A2-8882-7D163E7F27E5}" dt="2026-04-11T21:50:54.068" v="464" actId="14100"/>
          <ac:spMkLst>
            <pc:docMk/>
            <pc:sldMk cId="376843144" sldId="263"/>
            <ac:spMk id="3" creationId="{00000000-0000-0000-0000-000000000000}"/>
          </ac:spMkLst>
        </pc:spChg>
      </pc:sldChg>
      <pc:sldChg chg="modSp mod modNotesTx">
        <pc:chgData name="Julrey Solis" userId="865c2fc1f15fc15f" providerId="LiveId" clId="{32799E32-379F-44A2-8882-7D163E7F27E5}" dt="2026-04-20T15:13:20.957" v="2065" actId="20577"/>
        <pc:sldMkLst>
          <pc:docMk/>
          <pc:sldMk cId="3225141645" sldId="265"/>
        </pc:sldMkLst>
        <pc:spChg chg="mod">
          <ac:chgData name="Julrey Solis" userId="865c2fc1f15fc15f" providerId="LiveId" clId="{32799E32-379F-44A2-8882-7D163E7F27E5}" dt="2026-04-10T20:27:07.537" v="128" actId="27636"/>
          <ac:spMkLst>
            <pc:docMk/>
            <pc:sldMk cId="3225141645" sldId="265"/>
            <ac:spMk id="3" creationId="{00000000-0000-0000-0000-000000000000}"/>
          </ac:spMkLst>
        </pc:spChg>
      </pc:sldChg>
      <pc:sldChg chg="addSp delSp modSp mod modNotesTx">
        <pc:chgData name="Julrey Solis" userId="865c2fc1f15fc15f" providerId="LiveId" clId="{32799E32-379F-44A2-8882-7D163E7F27E5}" dt="2026-04-20T15:16:05.514" v="2104" actId="5793"/>
        <pc:sldMkLst>
          <pc:docMk/>
          <pc:sldMk cId="3564055637" sldId="267"/>
        </pc:sldMkLst>
        <pc:picChg chg="add mod ord">
          <ac:chgData name="Julrey Solis" userId="865c2fc1f15fc15f" providerId="LiveId" clId="{32799E32-379F-44A2-8882-7D163E7F27E5}" dt="2026-04-11T21:48:16.781" v="221" actId="14100"/>
          <ac:picMkLst>
            <pc:docMk/>
            <pc:sldMk cId="3564055637" sldId="267"/>
            <ac:picMk id="7" creationId="{03B77189-DDB7-40BD-20DD-6D5318695E4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For the </a:t>
            </a:r>
            <a:r>
              <a:rPr lang="en-US" b="0" dirty="0" err="1"/>
              <a:t>DriverPass</a:t>
            </a:r>
            <a:r>
              <a:rPr lang="en-US" b="0" dirty="0"/>
              <a:t> system, we identified two major categories of requirements: functional and nonfunctional. </a:t>
            </a:r>
          </a:p>
          <a:p>
            <a:r>
              <a:rPr lang="en-US" b="0" dirty="0"/>
              <a:t>Functional requirements describe what the system must </a:t>
            </a:r>
            <a:r>
              <a:rPr lang="en-US" b="0" i="1" dirty="0"/>
              <a:t>do</a:t>
            </a:r>
            <a:r>
              <a:rPr lang="en-US" b="0" dirty="0"/>
              <a:t>, while nonfunctional requirements define the </a:t>
            </a:r>
            <a:r>
              <a:rPr lang="en-US" b="0" i="1" dirty="0"/>
              <a:t>quality</a:t>
            </a:r>
            <a:r>
              <a:rPr lang="en-US" b="0" dirty="0"/>
              <a:t> and constraints the system must meet.</a:t>
            </a:r>
          </a:p>
          <a:p>
            <a:endParaRPr lang="en-US" b="0" dirty="0"/>
          </a:p>
          <a:p>
            <a:endParaRPr lang="en-US" b="0" dirty="0"/>
          </a:p>
          <a:p>
            <a:r>
              <a:rPr lang="en-US" b="0" dirty="0"/>
              <a:t>Non‑Functional Requirements</a:t>
            </a:r>
          </a:p>
          <a:p>
            <a:r>
              <a:rPr lang="en-US" b="0" dirty="0">
                <a:effectLst/>
              </a:rPr>
              <a:t>First, the system must be fully web‑based. That means it should run smoothly on standard web browsers without requiring any special installations or local software. </a:t>
            </a:r>
          </a:p>
          <a:p>
            <a:r>
              <a:rPr lang="en-US" b="0" dirty="0">
                <a:effectLst/>
              </a:rPr>
              <a:t>This ensures accessibility for all users, whether they’re customers, instructors, or administrative staff. Another important non‑functional requirement is performance. </a:t>
            </a:r>
          </a:p>
          <a:p>
            <a:r>
              <a:rPr lang="en-US" b="0" dirty="0">
                <a:effectLst/>
              </a:rPr>
              <a:t>The web pages should load within two seconds under normal, stable internet conditions. Fast load times are essential for maintaining a positive user experience and keeping the system efficient and responsive.</a:t>
            </a:r>
            <a:endParaRPr lang="en-US" b="0" dirty="0"/>
          </a:p>
          <a:p>
            <a:endParaRPr lang="en-US" b="0"/>
          </a:p>
          <a:p>
            <a:endParaRPr lang="en-US" b="0" dirty="0"/>
          </a:p>
          <a:p>
            <a:r>
              <a:rPr lang="en-US" b="0" dirty="0"/>
              <a:t>Functional Requirements</a:t>
            </a:r>
          </a:p>
          <a:p>
            <a:r>
              <a:rPr lang="en-US" b="0" dirty="0">
                <a:effectLst/>
              </a:rPr>
              <a:t>On the functional side, the system must enforce role‑based permissions. Each user (whether a student, instructor, secretary, or administrator) should only have access to the features and data appropriate for their role. </a:t>
            </a:r>
          </a:p>
          <a:p>
            <a:r>
              <a:rPr lang="en-US" b="0" dirty="0">
                <a:effectLst/>
              </a:rPr>
              <a:t>This protects sensitive information and keeps the interface clean and relevant for each user type. </a:t>
            </a:r>
          </a:p>
          <a:p>
            <a:r>
              <a:rPr lang="en-US" b="0" dirty="0">
                <a:effectLst/>
              </a:rPr>
              <a:t>The system must also be able to generate downloadable reports. These include activity logs, reservation schedules, and other operational data that staff may need for tracking, auditing, or planning. </a:t>
            </a:r>
          </a:p>
          <a:p>
            <a:r>
              <a:rPr lang="en-US" b="0" dirty="0">
                <a:effectLst/>
              </a:rPr>
              <a:t>Providing these reports in a downloadable format supports transparency and helps the business operate more efficiently.</a:t>
            </a:r>
            <a:endParaRPr lang="en-US" b="0" dirty="0"/>
          </a:p>
          <a:p>
            <a:endParaRPr lang="en-US" b="1" dirty="0"/>
          </a:p>
          <a:p>
            <a:endParaRPr lang="en-US" b="1" dirty="0"/>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This is our </a:t>
            </a:r>
            <a:r>
              <a:rPr lang="en-US" baseline="0" dirty="0" err="1"/>
              <a:t>DriverPass</a:t>
            </a:r>
            <a:r>
              <a:rPr lang="en-US" baseline="0" dirty="0"/>
              <a:t> App. I’ve included 4 major Use Cases which are shown in the Use Case Diagram.</a:t>
            </a:r>
          </a:p>
          <a:p>
            <a:endParaRPr lang="en-US" baseline="0" dirty="0"/>
          </a:p>
          <a:p>
            <a:r>
              <a:rPr lang="en-US" baseline="0" dirty="0"/>
              <a:t>My actors are the main users that will be working on the application.</a:t>
            </a:r>
          </a:p>
          <a:p>
            <a:pPr marL="228600" indent="-228600">
              <a:buAutoNum type="arabicPeriod"/>
            </a:pPr>
            <a:r>
              <a:rPr lang="en-US" baseline="0" dirty="0"/>
              <a:t>Customer</a:t>
            </a:r>
          </a:p>
          <a:p>
            <a:pPr marL="228600" indent="-228600">
              <a:buAutoNum type="arabicPeriod"/>
            </a:pPr>
            <a:r>
              <a:rPr lang="en-US" baseline="0" dirty="0"/>
              <a:t>Scheduler</a:t>
            </a:r>
          </a:p>
          <a:p>
            <a:pPr marL="228600" indent="-228600">
              <a:buAutoNum type="arabicPeriod"/>
            </a:pPr>
            <a:r>
              <a:rPr lang="en-US" baseline="0" dirty="0"/>
              <a:t>Administrator</a:t>
            </a:r>
          </a:p>
          <a:p>
            <a:pPr marL="228600" indent="-228600">
              <a:buAutoNum type="arabicPeriod"/>
            </a:pPr>
            <a:r>
              <a:rPr lang="en-US" baseline="0" dirty="0"/>
              <a:t>Owner</a:t>
            </a:r>
          </a:p>
          <a:p>
            <a:pPr marL="228600" indent="-228600">
              <a:buAutoNum type="arabicPeriod"/>
            </a:pPr>
            <a:r>
              <a:rPr lang="en-US" baseline="0" dirty="0"/>
              <a:t>Driving instructor</a:t>
            </a:r>
          </a:p>
          <a:p>
            <a:pPr marL="228600" indent="-228600">
              <a:buAutoNum type="arabicPeriod"/>
            </a:pPr>
            <a:endParaRPr lang="en-US" baseline="0" dirty="0"/>
          </a:p>
          <a:p>
            <a:pPr marL="0" indent="0">
              <a:buNone/>
            </a:pPr>
            <a:r>
              <a:rPr lang="en-US" baseline="0" dirty="0"/>
              <a:t>Different Use Cases are:</a:t>
            </a:r>
          </a:p>
          <a:p>
            <a:pPr marL="228600" indent="-228600">
              <a:buAutoNum type="arabicPeriod"/>
            </a:pPr>
            <a:r>
              <a:rPr lang="en-US" baseline="0" dirty="0"/>
              <a:t>Account Flow (Creation, to modification)</a:t>
            </a:r>
          </a:p>
          <a:p>
            <a:pPr marL="228600" indent="-228600">
              <a:buAutoNum type="arabicPeriod"/>
            </a:pPr>
            <a:r>
              <a:rPr lang="en-US" baseline="0" dirty="0"/>
              <a:t>Package and Reservation Flow (From buying the package up to reserving a driving session)</a:t>
            </a:r>
          </a:p>
          <a:p>
            <a:pPr marL="228600" indent="-228600">
              <a:buAutoNum type="arabicPeriod"/>
            </a:pPr>
            <a:r>
              <a:rPr lang="en-US" baseline="0" dirty="0"/>
              <a:t>Driving Lesson Flow (From picking up the customer &gt; Driving lesson &gt; dropping off)</a:t>
            </a:r>
          </a:p>
          <a:p>
            <a:pPr marL="228600" indent="-228600">
              <a:buAutoNum type="arabicPeriod"/>
            </a:pPr>
            <a:r>
              <a:rPr lang="en-US" baseline="0" dirty="0"/>
              <a:t>Online Class flow (From updating the course and exam content &gt; online viewing and taking the exam)</a:t>
            </a:r>
          </a:p>
          <a:p>
            <a:pPr marL="0" indent="0">
              <a:buNone/>
            </a:pPr>
            <a:endParaRPr lang="en-US" baseline="0" dirty="0"/>
          </a:p>
          <a:p>
            <a:pPr marL="0" indent="0">
              <a:buNone/>
            </a:pPr>
            <a:endParaRPr lang="en-US" baseline="0" dirty="0"/>
          </a:p>
          <a:p>
            <a:pPr marL="0" indent="0">
              <a:buNone/>
            </a:pPr>
            <a:endParaRPr lang="en-US" baseline="0"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In this slide, I’ll walk through the main activities involved in the Account Creation use case. </a:t>
            </a:r>
          </a:p>
          <a:p>
            <a:endParaRPr lang="en-US" dirty="0">
              <a:effectLst/>
            </a:endParaRPr>
          </a:p>
          <a:p>
            <a:r>
              <a:rPr lang="en-US" dirty="0">
                <a:effectLst/>
              </a:rPr>
              <a:t>This process outlines how a new customer gets set up in the </a:t>
            </a:r>
            <a:r>
              <a:rPr lang="en-US" dirty="0" err="1">
                <a:effectLst/>
              </a:rPr>
              <a:t>DriverPass</a:t>
            </a:r>
            <a:r>
              <a:rPr lang="en-US" dirty="0">
                <a:effectLst/>
              </a:rPr>
              <a:t> system.</a:t>
            </a:r>
          </a:p>
          <a:p>
            <a:endParaRPr lang="en-US" dirty="0"/>
          </a:p>
          <a:p>
            <a:pPr marL="228600" indent="-228600">
              <a:buAutoNum type="arabicPeriod"/>
            </a:pPr>
            <a:r>
              <a:rPr lang="en-US" dirty="0">
                <a:effectLst/>
              </a:rPr>
              <a:t>The account creation process begins when the customer calls the </a:t>
            </a:r>
            <a:r>
              <a:rPr lang="en-US" dirty="0" err="1">
                <a:effectLst/>
              </a:rPr>
              <a:t>DriverPass</a:t>
            </a:r>
            <a:r>
              <a:rPr lang="en-US" dirty="0">
                <a:effectLst/>
              </a:rPr>
              <a:t> hotline to request a new account. </a:t>
            </a:r>
          </a:p>
          <a:p>
            <a:pPr marL="228600" indent="-228600">
              <a:buAutoNum type="arabicPeriod"/>
            </a:pPr>
            <a:r>
              <a:rPr lang="en-US" dirty="0">
                <a:effectLst/>
              </a:rPr>
              <a:t>From there, the scheduler collects the required information such as the customer’s name, contact details, and package selection, and creates the account on their behalf.</a:t>
            </a:r>
          </a:p>
          <a:p>
            <a:pPr marL="228600" indent="-228600">
              <a:buAutoNum type="arabicPeriod"/>
            </a:pPr>
            <a:r>
              <a:rPr lang="en-US" dirty="0">
                <a:effectLst/>
              </a:rPr>
              <a:t>Once the account is created, the customer receives an email verification link. This step ensures that the email address is valid and that the customer is the rightful owner of the account. </a:t>
            </a:r>
          </a:p>
          <a:p>
            <a:pPr marL="228600" indent="-228600">
              <a:buAutoNum type="arabicPeriod"/>
            </a:pPr>
            <a:r>
              <a:rPr lang="en-US" dirty="0">
                <a:effectLst/>
              </a:rPr>
              <a:t>After verifying their email, the customer sets up their username and password.</a:t>
            </a:r>
          </a:p>
          <a:p>
            <a:pPr marL="228600" indent="-228600">
              <a:buAutoNum type="arabicPeriod"/>
            </a:pPr>
            <a:r>
              <a:rPr lang="en-US" dirty="0">
                <a:effectLst/>
              </a:rPr>
              <a:t>At that point, the customer can log in to the </a:t>
            </a:r>
            <a:r>
              <a:rPr lang="en-US" dirty="0" err="1">
                <a:effectLst/>
              </a:rPr>
              <a:t>DriverPass</a:t>
            </a:r>
            <a:r>
              <a:rPr lang="en-US" dirty="0">
                <a:effectLst/>
              </a:rPr>
              <a:t> system for the first time. From there, they can edit or update their account information, and they can also use the password reset feature if they ever need to recover access.</a:t>
            </a:r>
          </a:p>
          <a:p>
            <a:pPr marL="0" indent="0">
              <a:buNone/>
            </a:pPr>
            <a:endParaRPr lang="en-US" dirty="0"/>
          </a:p>
          <a:p>
            <a:r>
              <a:rPr lang="en-US" dirty="0">
                <a:effectLst/>
              </a:rPr>
              <a:t>Overall, this use case ensures that every customer is onboarded securely and consistently, with verification steps in place to protect their account and personal information.</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rPr>
              <a:t>Security is a critical part of the </a:t>
            </a:r>
            <a:r>
              <a:rPr lang="en-US" b="0" dirty="0" err="1">
                <a:effectLst/>
              </a:rPr>
              <a:t>DriverPass</a:t>
            </a:r>
            <a:r>
              <a:rPr lang="en-US" b="0" dirty="0">
                <a:effectLst/>
              </a:rPr>
              <a:t> system, especially because we’re handling personal information, scheduling data, and training records. The platform uses several layers of protection to keep user accounts and system data safe.</a:t>
            </a:r>
            <a:br>
              <a:rPr lang="en-US" b="0" dirty="0">
                <a:effectLst/>
              </a:rPr>
            </a:br>
            <a:br>
              <a:rPr lang="en-US" b="0" dirty="0">
                <a:effectLst/>
              </a:rPr>
            </a:br>
            <a:r>
              <a:rPr lang="en-US" b="0" dirty="0">
                <a:effectLst/>
              </a:rPr>
              <a:t>First, the system requires users to log in using a valid email address and password. </a:t>
            </a:r>
          </a:p>
          <a:p>
            <a:r>
              <a:rPr lang="en-US" b="0" dirty="0">
                <a:effectLst/>
              </a:rPr>
              <a:t>This ensures that every user has a unique identity tied to their account. </a:t>
            </a:r>
          </a:p>
          <a:p>
            <a:r>
              <a:rPr lang="en-US" b="0" dirty="0">
                <a:effectLst/>
              </a:rPr>
              <a:t>To prevent unauthorized access, the system automatically locks an account after multiple failed login attempts. This helps protect against brute‑force attacks or repeated guessing.</a:t>
            </a:r>
          </a:p>
          <a:p>
            <a:endParaRPr lang="en-US" b="0" dirty="0"/>
          </a:p>
          <a:p>
            <a:r>
              <a:rPr lang="en-US" b="0" dirty="0">
                <a:effectLst/>
              </a:rPr>
              <a:t>Second, if a user forgets their password, the reset process requires email verification. </a:t>
            </a:r>
          </a:p>
          <a:p>
            <a:r>
              <a:rPr lang="en-US" b="0" dirty="0">
                <a:effectLst/>
              </a:rPr>
              <a:t>This adds an extra layer of security by ensuring that only the legitimate account owner can initiate a password change.</a:t>
            </a:r>
          </a:p>
          <a:p>
            <a:endParaRPr lang="en-US" b="0" dirty="0"/>
          </a:p>
          <a:p>
            <a:endParaRPr lang="en-US" b="0" dirty="0"/>
          </a:p>
          <a:p>
            <a:r>
              <a:rPr lang="en-US" b="0" dirty="0">
                <a:effectLst/>
              </a:rPr>
              <a:t>Third, all system data is stored in the cloud, where modern security technologies are used to protect data in transit and at rest. </a:t>
            </a:r>
          </a:p>
          <a:p>
            <a:r>
              <a:rPr lang="en-US" b="0" dirty="0">
                <a:effectLst/>
              </a:rPr>
              <a:t>This includes encryption, secure communication protocols, and continuous monitoring. </a:t>
            </a:r>
          </a:p>
          <a:p>
            <a:r>
              <a:rPr lang="en-US" b="0" dirty="0">
                <a:effectLst/>
              </a:rPr>
              <a:t>Using cloud‑based infrastructure also helps ensure reliability, scalability, and consistent security updates.</a:t>
            </a:r>
          </a:p>
          <a:p>
            <a:endParaRPr lang="en-US" b="0" dirty="0">
              <a:effectLst/>
            </a:endParaRPr>
          </a:p>
          <a:p>
            <a:endParaRPr lang="en-US" b="0" dirty="0"/>
          </a:p>
          <a:p>
            <a:r>
              <a:rPr lang="en-US" b="0" dirty="0">
                <a:effectLst/>
              </a:rPr>
              <a:t>Together, these security measures help ensure that </a:t>
            </a:r>
            <a:r>
              <a:rPr lang="en-US" b="0" dirty="0" err="1">
                <a:effectLst/>
              </a:rPr>
              <a:t>DriverPass</a:t>
            </a:r>
            <a:r>
              <a:rPr lang="en-US" b="0" dirty="0">
                <a:effectLst/>
              </a:rPr>
              <a:t> maintains the confidentiality, integrity, and availability of user data while providing a safe and trustworthy experience for both customers and staff.</a:t>
            </a:r>
            <a:endParaRPr lang="en-US" b="0"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rPr>
              <a:t>To wrap up, I want to highlight some of the limitations of the </a:t>
            </a:r>
            <a:r>
              <a:rPr lang="en-US" b="0" dirty="0" err="1">
                <a:effectLst/>
              </a:rPr>
              <a:t>DriverPass</a:t>
            </a:r>
            <a:r>
              <a:rPr lang="en-US" b="0" dirty="0">
                <a:effectLst/>
              </a:rPr>
              <a:t> system. </a:t>
            </a:r>
          </a:p>
          <a:p>
            <a:r>
              <a:rPr lang="en-US" b="0" dirty="0">
                <a:effectLst/>
              </a:rPr>
              <a:t>These are important to acknowledge because they help set realistic expectations for what the system can and cannot do at this stage of development.</a:t>
            </a:r>
          </a:p>
          <a:p>
            <a:endParaRPr lang="en-US" b="0" dirty="0">
              <a:effectLst/>
            </a:endParaRPr>
          </a:p>
          <a:p>
            <a:r>
              <a:rPr lang="en-US" b="0" dirty="0">
                <a:effectLst/>
              </a:rPr>
              <a:t>First, the system is fully dependent on the DMV for policies, procedures, and test content. That means any delays or changes on the DMV side directly affect </a:t>
            </a:r>
            <a:r>
              <a:rPr lang="en-US" b="0" dirty="0" err="1">
                <a:effectLst/>
              </a:rPr>
              <a:t>DriverPass</a:t>
            </a:r>
            <a:r>
              <a:rPr lang="en-US" b="0" dirty="0">
                <a:effectLst/>
              </a:rPr>
              <a:t>. </a:t>
            </a:r>
          </a:p>
          <a:p>
            <a:r>
              <a:rPr lang="en-US" b="0" dirty="0">
                <a:effectLst/>
              </a:rPr>
              <a:t>The system can only be as up‑to‑date as the information provided by the DMV.</a:t>
            </a:r>
            <a:endParaRPr lang="en-US" b="0" dirty="0"/>
          </a:p>
          <a:p>
            <a:endParaRPr lang="en-US" b="0" dirty="0">
              <a:effectLst/>
            </a:endParaRPr>
          </a:p>
          <a:p>
            <a:r>
              <a:rPr lang="en-US" b="0" dirty="0">
                <a:effectLst/>
              </a:rPr>
              <a:t>Next, the entire platform is hosted in the cloud. While this gives us scalability and reliability, it also means that if the cloud provider experiences downtime, the </a:t>
            </a:r>
            <a:r>
              <a:rPr lang="en-US" b="0" dirty="0" err="1">
                <a:effectLst/>
              </a:rPr>
              <a:t>DriverPass</a:t>
            </a:r>
            <a:r>
              <a:rPr lang="en-US" b="0" dirty="0">
                <a:effectLst/>
              </a:rPr>
              <a:t> system goes down as well. </a:t>
            </a:r>
          </a:p>
          <a:p>
            <a:r>
              <a:rPr lang="en-US" b="1" u="sng" dirty="0">
                <a:effectLst/>
              </a:rPr>
              <a:t>There’s no local fallback.</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ffectLst/>
              </a:rPr>
              <a:t>Another limitation involves development resources.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ffectLst/>
              </a:rPr>
              <a:t>Budget constraints can slow down development or limit the number of features that can be added in future versions.</a:t>
            </a:r>
          </a:p>
          <a:p>
            <a:r>
              <a:rPr lang="en-US" b="0" dirty="0">
                <a:effectLst/>
              </a:rPr>
              <a:t>The timeline for building new features or enhancements may impact how quickly updates can be released. </a:t>
            </a:r>
          </a:p>
          <a:p>
            <a:endParaRPr lang="en-US" b="0" dirty="0">
              <a:effectLst/>
            </a:endParaRPr>
          </a:p>
          <a:p>
            <a:r>
              <a:rPr lang="en-US" b="0" dirty="0">
                <a:effectLst/>
              </a:rPr>
              <a:t>At this stage, the system does not include built‑in fraud detection for payments. </a:t>
            </a:r>
          </a:p>
          <a:p>
            <a:r>
              <a:rPr lang="en-US" b="0" dirty="0">
                <a:effectLst/>
              </a:rPr>
              <a:t>That means </a:t>
            </a:r>
            <a:r>
              <a:rPr lang="en-US" b="0" dirty="0" err="1">
                <a:effectLst/>
              </a:rPr>
              <a:t>DriverPass</a:t>
            </a:r>
            <a:r>
              <a:rPr lang="en-US" b="0" dirty="0">
                <a:effectLst/>
              </a:rPr>
              <a:t> would need to rely on the security features of the payment processor rather than having its own fraud‑monitoring capabilities.</a:t>
            </a:r>
          </a:p>
          <a:p>
            <a:endParaRPr lang="en-US" b="0" dirty="0"/>
          </a:p>
          <a:p>
            <a:r>
              <a:rPr lang="en-US" b="0" dirty="0">
                <a:effectLst/>
              </a:rPr>
              <a:t>Finally, while cloud hosting allows the system to scale as usage grows, scaling up also increases operational costs.</a:t>
            </a:r>
          </a:p>
          <a:p>
            <a:r>
              <a:rPr lang="en-US" b="0" dirty="0">
                <a:effectLst/>
              </a:rPr>
              <a:t>As more users join or system activity increases, the cost of cloud resources will rise accordingly.</a:t>
            </a:r>
            <a:endParaRPr lang="en-US" b="0" dirty="0"/>
          </a:p>
          <a:p>
            <a:endParaRPr lang="en-US" b="0" dirty="0"/>
          </a:p>
          <a:p>
            <a:r>
              <a:rPr lang="en-US" b="0" dirty="0">
                <a:effectLst/>
              </a:rPr>
              <a:t>These limitations don’t prevent the system from meeting its core goals, but they do highlight areas that may require future investment, planning, or risk management as </a:t>
            </a:r>
            <a:r>
              <a:rPr lang="en-US" b="0" dirty="0" err="1">
                <a:effectLst/>
              </a:rPr>
              <a:t>DriverPass</a:t>
            </a:r>
            <a:r>
              <a:rPr lang="en-US" b="0" dirty="0">
                <a:effectLst/>
              </a:rPr>
              <a:t> continues to grow.</a:t>
            </a:r>
            <a:endParaRPr lang="en-US" b="0"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Julrey Solis</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92500" lnSpcReduction="10000"/>
          </a:bodyPr>
          <a:lstStyle/>
          <a:p>
            <a:pPr marL="0" indent="0">
              <a:buNone/>
            </a:pPr>
            <a:r>
              <a:rPr lang="en-US" sz="2400" dirty="0">
                <a:solidFill>
                  <a:srgbClr val="000000"/>
                </a:solidFill>
              </a:rPr>
              <a:t>Non-functional Requirements</a:t>
            </a:r>
          </a:p>
          <a:p>
            <a:pPr marL="914400" lvl="1" indent="-457200">
              <a:buFont typeface="+mj-lt"/>
              <a:buAutoNum type="arabicPeriod"/>
            </a:pPr>
            <a:r>
              <a:rPr lang="en-US" dirty="0"/>
              <a:t>The system must be able to open and run on web-based applications and browsers</a:t>
            </a:r>
          </a:p>
          <a:p>
            <a:pPr marL="914400" lvl="1" indent="-457200">
              <a:buFont typeface="+mj-lt"/>
              <a:buAutoNum type="arabicPeriod"/>
            </a:pPr>
            <a:r>
              <a:rPr lang="en-US" dirty="0"/>
              <a:t>The web page should load within 2 seconds considering that internet connection is stable.</a:t>
            </a:r>
          </a:p>
          <a:p>
            <a:pPr marL="457200" lvl="1" indent="0">
              <a:buNone/>
            </a:pPr>
            <a:endParaRPr lang="en-US" dirty="0"/>
          </a:p>
          <a:p>
            <a:pPr marL="0" indent="0">
              <a:buNone/>
            </a:pPr>
            <a:r>
              <a:rPr lang="en-US" sz="2400" dirty="0">
                <a:solidFill>
                  <a:srgbClr val="000000"/>
                </a:solidFill>
              </a:rPr>
              <a:t>Functional Requirements</a:t>
            </a:r>
          </a:p>
          <a:p>
            <a:pPr marL="914400" lvl="1" indent="-457200">
              <a:buFont typeface="+mj-lt"/>
              <a:buAutoNum type="arabicPeriod"/>
            </a:pPr>
            <a:r>
              <a:rPr lang="en-US" dirty="0"/>
              <a:t>The system shall apply role‑based permissions to ensure each user only accesses features appropriate to their role.</a:t>
            </a:r>
          </a:p>
          <a:p>
            <a:pPr marL="914400" lvl="1" indent="-457200">
              <a:buFont typeface="+mj-lt"/>
              <a:buAutoNum type="arabicPeriod"/>
            </a:pPr>
            <a:r>
              <a:rPr lang="en-US" dirty="0"/>
              <a:t>The system shall generate downloadable reports, including activity logs and reservation schedules.</a:t>
            </a:r>
          </a:p>
          <a:p>
            <a:pPr marL="914400" lvl="1" indent="-457200">
              <a:buFont typeface="+mj-lt"/>
              <a:buAutoNum type="arabicPeriod"/>
            </a:pPr>
            <a:endParaRPr lang="en-US" sz="20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10" name="Content Placeholder 9">
            <a:extLst>
              <a:ext uri="{FF2B5EF4-FFF2-40B4-BE49-F238E27FC236}">
                <a16:creationId xmlns:a16="http://schemas.microsoft.com/office/drawing/2014/main" id="{43B4E451-BCD6-6F4A-9965-B93193E8FA72}"/>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082111" y="87972"/>
            <a:ext cx="6109888" cy="6770028"/>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7" name="Content Placeholder 6">
            <a:extLst>
              <a:ext uri="{FF2B5EF4-FFF2-40B4-BE49-F238E27FC236}">
                <a16:creationId xmlns:a16="http://schemas.microsoft.com/office/drawing/2014/main" id="{03B77189-DDB7-40BD-20DD-6D5318695E45}"/>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929746" y="535709"/>
            <a:ext cx="5938982" cy="5763491"/>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395734"/>
          </a:xfrm>
        </p:spPr>
        <p:txBody>
          <a:bodyPr anchor="ctr">
            <a:normAutofit/>
          </a:bodyPr>
          <a:lstStyle/>
          <a:p>
            <a:pPr lvl="0"/>
            <a:r>
              <a:rPr lang="en-US" dirty="0"/>
              <a:t>Login requires an email address and password.</a:t>
            </a:r>
            <a:br>
              <a:rPr lang="en-US" dirty="0"/>
            </a:br>
            <a:endParaRPr lang="en-US" dirty="0"/>
          </a:p>
          <a:p>
            <a:pPr lvl="0"/>
            <a:r>
              <a:rPr lang="en-US" dirty="0"/>
              <a:t>System Data is stored in the cloud where all data activity uses the latest security technology.</a:t>
            </a:r>
            <a:br>
              <a:rPr lang="en-US" dirty="0"/>
            </a:br>
            <a:endParaRPr lang="en-US" dirty="0"/>
          </a:p>
          <a:p>
            <a:pPr lvl="0"/>
            <a:r>
              <a:rPr lang="en-US" dirty="0"/>
              <a:t>Accounts will get locked out after multiple failed login attempts.</a:t>
            </a:r>
            <a:br>
              <a:rPr lang="en-US" dirty="0"/>
            </a:br>
            <a:endParaRPr lang="en-US" dirty="0"/>
          </a:p>
          <a:p>
            <a:pPr lvl="0"/>
            <a:r>
              <a:rPr lang="en-US" dirty="0"/>
              <a:t>Reset / Forget password will require an email verification.</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fontScale="85000" lnSpcReduction="10000"/>
          </a:bodyPr>
          <a:lstStyle/>
          <a:p>
            <a:pPr lvl="0"/>
            <a:r>
              <a:rPr lang="en-US" dirty="0"/>
              <a:t>Policies and procedures are dependent on DMV ONLY.</a:t>
            </a:r>
          </a:p>
          <a:p>
            <a:pPr lvl="0"/>
            <a:r>
              <a:rPr lang="en-US" dirty="0"/>
              <a:t>System and services are all hosted in cloud and if cloud service goes down, System and services also go down.</a:t>
            </a:r>
          </a:p>
          <a:p>
            <a:pPr lvl="0"/>
            <a:r>
              <a:rPr lang="en-US" dirty="0"/>
              <a:t>Development timeline might affect future updates.</a:t>
            </a:r>
          </a:p>
          <a:p>
            <a:pPr lvl="0"/>
            <a:r>
              <a:rPr lang="en-US" dirty="0"/>
              <a:t>Budget constraints might affect development progress and limit feature updates.</a:t>
            </a:r>
          </a:p>
          <a:p>
            <a:pPr lvl="0"/>
            <a:r>
              <a:rPr lang="en-US" dirty="0"/>
              <a:t>The system does not detect fraud detection for payments.</a:t>
            </a:r>
          </a:p>
          <a:p>
            <a:pPr lvl="0"/>
            <a:r>
              <a:rPr lang="en-US" dirty="0"/>
              <a:t>Since cloud hosting is used, scaling up might increase depending on system usage and cause higher costs.</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1387</TotalTime>
  <Words>1294</Words>
  <Application>Microsoft Office PowerPoint</Application>
  <PresentationFormat>Widescreen</PresentationFormat>
  <Paragraphs>106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Julrey Solis</cp:lastModifiedBy>
  <cp:revision>20</cp:revision>
  <dcterms:created xsi:type="dcterms:W3CDTF">2019-10-14T02:36:52Z</dcterms:created>
  <dcterms:modified xsi:type="dcterms:W3CDTF">2026-04-20T15:16:43Z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